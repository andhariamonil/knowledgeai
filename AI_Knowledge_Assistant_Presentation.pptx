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API Response Times (seconds)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 Time (seconds)</c:v>
                </c:pt>
              </c:strCache>
            </c:strRef>
          </c:tx>
          <c:spPr>
            <a:solidFill>
              <a:srgbClr val="6C63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Login API</c:v>
                  </c:pt>
                  <c:pt idx="1">
                    <c:v>Upload API</c:v>
                  </c:pt>
                  <c:pt idx="2">
                    <c:v>Indexing (1 page)</c:v>
                  </c:pt>
                  <c:pt idx="3">
                    <c:v>Chat Query (Groq)</c:v>
                  </c:pt>
                  <c:pt idx="4">
                    <c:v>Chat Query (fallback)</c:v>
                  </c:pt>
                  <c:pt idx="5">
                    <c:v>Dashboard Stats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</c:v>
                </c:pt>
                <c:pt idx="1">
                  <c:v>0.8</c:v>
                </c:pt>
                <c:pt idx="2">
                  <c:v>12</c:v>
                </c:pt>
                <c:pt idx="3">
                  <c:v>1.8</c:v>
                </c:pt>
                <c:pt idx="4">
                  <c:v>0.5</c:v>
                </c:pt>
                <c:pt idx="5">
                  <c:v>0.2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6C63FF">
              <a:alpha val="15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4572000" cy="4572000"/>
          </a:xfrm>
          <a:prstGeom prst="ellipse">
            <a:avLst/>
          </a:prstGeom>
          <a:solidFill>
            <a:srgbClr val="00D4AA">
              <a:alpha val="12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3657600"/>
            <a:ext cx="2743200" cy="2743200"/>
          </a:xfrm>
          <a:prstGeom prst="ellipse">
            <a:avLst/>
          </a:prstGeom>
          <a:solidFill>
            <a:srgbClr val="FF6B6B">
              <a:alpha val="10000"/>
            </a:srgbClr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274320"/>
            <a:ext cx="1463040" cy="1463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91840" y="1874520"/>
            <a:ext cx="2560320" cy="274320"/>
          </a:xfrm>
          <a:prstGeom prst="rect">
            <a:avLst/>
          </a:prstGeom>
          <a:solidFill>
            <a:srgbClr val="6C63FF">
              <a:alpha val="3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63FF"/>
                </a:solidFill>
              </a:rPr>
              <a:t>FINAL MAJOR PROJECT  ·  B.TECH CSE (AI-ML)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22402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Internal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457200" y="285292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Assistant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914400" y="35844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4A3B8"/>
                </a:solidFill>
              </a:rPr>
              <a:t>"ChatGPT for Your Company's Private Data"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7200" y="4023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Presented by: [NAME OF STUDENT]  |  Enrollment: [ENROLLMENT NO.]  |  Mentor: [NAME OF MENTOR]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Dept. of CSE (AI-ML)  ·  Faculty of Engineering Science &amp; Technology  ·  Adani University, Ahmedabad  ·  2025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0" y="4983480"/>
            <a:ext cx="3044952" cy="1600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99048" y="4983480"/>
            <a:ext cx="3044952" cy="1600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01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Problem Statement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C63FF"/>
                </a:solidFill>
              </a:rPr>
              <a:t>&amp; Objectives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286000" cy="1280160"/>
          </a:xfrm>
          <a:prstGeom prst="rect">
            <a:avLst/>
          </a:prstGeom>
          <a:solidFill>
            <a:srgbClr val="6C63FF">
              <a:alpha val="20000"/>
            </a:srgbClr>
          </a:solidFill>
          <a:ln w="10160">
            <a:solidFill>
              <a:srgbClr val="6C6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C63FF"/>
                </a:solidFill>
              </a:rPr>
              <a:t>20%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of work time wasted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searching for info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1143000"/>
            <a:ext cx="5760720" cy="749808"/>
          </a:xfrm>
          <a:prstGeom prst="rect">
            <a:avLst/>
          </a:prstGeom>
          <a:solidFill>
            <a:srgbClr val="1A2235"/>
          </a:solidFill>
          <a:ln w="6350">
            <a:solidFill>
              <a:srgbClr val="6C6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72968" y="1261872"/>
            <a:ext cx="512064" cy="512064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5381" y="1364285"/>
            <a:ext cx="307238" cy="30723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840480" y="1234440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</a:rPr>
              <a:t>No centralized search — info siloed across Notion, Slack, Email, PDFs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926080" y="2029968"/>
            <a:ext cx="5760720" cy="749808"/>
          </a:xfrm>
          <a:prstGeom prst="rect">
            <a:avLst/>
          </a:prstGeom>
          <a:solidFill>
            <a:srgbClr val="1A2235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72968" y="2148840"/>
            <a:ext cx="512064" cy="5120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381" y="2251253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40480" y="2121408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</a:rPr>
              <a:t>Knowledge loss — critical info lost when employees leave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2926080" y="2916936"/>
            <a:ext cx="5760720" cy="749808"/>
          </a:xfrm>
          <a:prstGeom prst="rect">
            <a:avLst/>
          </a:prstGeom>
          <a:solidFill>
            <a:srgbClr val="1A2235"/>
          </a:solidFill>
          <a:ln w="6350">
            <a:solidFill>
              <a:srgbClr val="FF6B6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172968" y="3035808"/>
            <a:ext cx="512064" cy="51206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5381" y="313822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840480" y="3008376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</a:rPr>
              <a:t>Slow onboarding — new hires spend weeks finding institutional knowledge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2926080" y="3803904"/>
            <a:ext cx="5760720" cy="749808"/>
          </a:xfrm>
          <a:prstGeom prst="rect">
            <a:avLst/>
          </a:prstGeom>
          <a:solidFill>
            <a:srgbClr val="1A2235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172968" y="3922776"/>
            <a:ext cx="512064" cy="512064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5381" y="4025189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840480" y="3895344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</a:rPr>
              <a:t>Inconsistent data — stale documents cause wrong decisions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365760" y="2578608"/>
            <a:ext cx="2286000" cy="2194560"/>
          </a:xfrm>
          <a:prstGeom prst="rect">
            <a:avLst/>
          </a:prstGeom>
          <a:solidFill>
            <a:srgbClr val="1A2235"/>
          </a:solidFill>
          <a:ln w="10160">
            <a:solidFill>
              <a:srgbClr val="00D4AA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65760" y="26334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Objectives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502920" y="294436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Centralized AI Q&amp;A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02920" y="328269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Source-attributed answers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02920" y="362102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Role-based access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502920" y="395935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Hybrid RAG accuracy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502920" y="429768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Multi-format support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2 / 18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0" y="4983480"/>
            <a:ext cx="3044952" cy="1600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6099048" y="4983480"/>
            <a:ext cx="3044952" cy="1600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02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Organization / Project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743200" cy="1691640"/>
          </a:xfrm>
          <a:prstGeom prst="rect">
            <a:avLst/>
          </a:prstGeom>
          <a:solidFill>
            <a:srgbClr val="1A2235"/>
          </a:solidFill>
          <a:ln w="7620">
            <a:solidFill>
              <a:srgbClr val="6C63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743200" cy="36576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9496" y="1243584"/>
            <a:ext cx="475488" cy="47548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594" y="1338682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2618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Institution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15568" y="14813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Adani University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1865376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Ahmedabad-382421, Gujarat, India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91840" y="1005840"/>
            <a:ext cx="2743200" cy="1691640"/>
          </a:xfrm>
          <a:prstGeom prst="rect">
            <a:avLst/>
          </a:prstGeom>
          <a:solidFill>
            <a:srgbClr val="1A2235"/>
          </a:solidFill>
          <a:ln w="762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1005840"/>
            <a:ext cx="27432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65576" y="1243584"/>
            <a:ext cx="475488" cy="47548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0674" y="1338682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41648" y="12618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Department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041648" y="14813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CSE (AI-ML)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383280" y="1865376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Faculty of Engineering Science &amp; Technology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217920" y="1005840"/>
            <a:ext cx="2743200" cy="1691640"/>
          </a:xfrm>
          <a:prstGeom prst="rect">
            <a:avLst/>
          </a:prstGeom>
          <a:solidFill>
            <a:srgbClr val="1A2235"/>
          </a:solidFill>
          <a:ln w="762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1005840"/>
            <a:ext cx="27432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391656" y="1243584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754" y="1338682"/>
            <a:ext cx="285293" cy="28529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967728" y="12618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Website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6967728" y="14813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adaniuniversity.ac.in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309360" y="1865376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Official University Portal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365760" y="2926080"/>
            <a:ext cx="2743200" cy="1691640"/>
          </a:xfrm>
          <a:prstGeom prst="rect">
            <a:avLst/>
          </a:prstGeom>
          <a:solidFill>
            <a:srgbClr val="1A2235"/>
          </a:solidFill>
          <a:ln w="7620">
            <a:solidFill>
              <a:srgbClr val="FF6B6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365760" y="2926080"/>
            <a:ext cx="2743200" cy="3657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39496" y="3163824"/>
            <a:ext cx="475488" cy="47548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4" y="3258922"/>
            <a:ext cx="285293" cy="285293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115568" y="31821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Project Mentor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15568" y="34015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[NAME OF MENTOR]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457200" y="3785616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[Designation], Dept. CSE AI-ML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3291840" y="2926080"/>
            <a:ext cx="2743200" cy="1691640"/>
          </a:xfrm>
          <a:prstGeom prst="rect">
            <a:avLst/>
          </a:prstGeom>
          <a:solidFill>
            <a:srgbClr val="1A2235"/>
          </a:solidFill>
          <a:ln w="7620">
            <a:solidFill>
              <a:srgbClr val="A78BF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3291840" y="2926080"/>
            <a:ext cx="274320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3465576" y="3163824"/>
            <a:ext cx="475488" cy="47548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0674" y="3258922"/>
            <a:ext cx="285293" cy="285293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4041648" y="31821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Student Role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4041648" y="34015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Full-Stack Developer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3383280" y="3785616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Architecture · Frontend · Backend · AI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6217920" y="2926080"/>
            <a:ext cx="2743200" cy="1691640"/>
          </a:xfrm>
          <a:prstGeom prst="rect">
            <a:avLst/>
          </a:prstGeom>
          <a:solidFill>
            <a:srgbClr val="1A2235"/>
          </a:solidFill>
          <a:ln w="7620">
            <a:solidFill>
              <a:srgbClr val="34D399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6217920" y="2926080"/>
            <a:ext cx="2743200" cy="365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6391656" y="3163824"/>
            <a:ext cx="475488" cy="47548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754" y="3258922"/>
            <a:ext cx="285293" cy="285293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6967728" y="31821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Duration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6967728" y="34015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Nov – Dec 2025</a:t>
            </a:r>
            <a:endParaRPr lang="en-US" sz="1300" dirty="0"/>
          </a:p>
        </p:txBody>
      </p:sp>
      <p:sp>
        <p:nvSpPr>
          <p:cNvPr id="45" name="Text 37"/>
          <p:cNvSpPr/>
          <p:nvPr/>
        </p:nvSpPr>
        <p:spPr>
          <a:xfrm>
            <a:off x="6309360" y="3785616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6-week Sprint-based Development</a:t>
            </a:r>
            <a:endParaRPr lang="en-US" sz="1000" dirty="0"/>
          </a:p>
        </p:txBody>
      </p:sp>
      <p:sp>
        <p:nvSpPr>
          <p:cNvPr id="46" name="Text 38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3 / 18</a:t>
            </a:r>
            <a:endParaRPr lang="en-US" sz="900" dirty="0"/>
          </a:p>
        </p:txBody>
      </p:sp>
      <p:sp>
        <p:nvSpPr>
          <p:cNvPr id="47" name="Shape 3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0" y="4983480"/>
            <a:ext cx="3044952" cy="1600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6099048" y="4983480"/>
            <a:ext cx="3044952" cy="1600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03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Proposed 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Three-tier architecture with Hybrid RAG pipeline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743200" cy="3703320"/>
          </a:xfrm>
          <a:prstGeom prst="rect">
            <a:avLst/>
          </a:prstGeom>
          <a:solidFill>
            <a:srgbClr val="1A2235"/>
          </a:solidFill>
          <a:ln w="10160">
            <a:solidFill>
              <a:srgbClr val="6C63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2743200" cy="59436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6344" y="1143000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811" y="1223467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097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PRESENTATION TIER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60120" y="1362456"/>
            <a:ext cx="1965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React.js + Vite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02920" y="182880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3FF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Login / Register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2368296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3FF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Dashboard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290779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3FF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Chat Interface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" y="344728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3FF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Document Upload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2920" y="3986784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3FF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Admin Panel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108960" y="2788920"/>
            <a:ext cx="137160" cy="36576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63240" y="2697480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C63FF"/>
                </a:solidFill>
              </a:rPr>
              <a:t>▶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246120" y="1051560"/>
            <a:ext cx="2743200" cy="3703320"/>
          </a:xfrm>
          <a:prstGeom prst="rect">
            <a:avLst/>
          </a:prstGeom>
          <a:solidFill>
            <a:srgbClr val="1A2235"/>
          </a:solidFill>
          <a:ln w="1016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246120" y="1051560"/>
            <a:ext cx="2743200" cy="5943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392424" y="1143000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2891" y="1223467"/>
            <a:ext cx="241402" cy="24140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886200" y="1097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APPLICATION TIER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3886200" y="1362456"/>
            <a:ext cx="1965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Node.js + Express.js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3429000" y="182880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Auth Controller (JWT)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3429000" y="2368296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Chat Controller (RAG)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3429000" y="290779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Document Controller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3429000" y="344728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User Controller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3429000" y="3986784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Stats Controller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035040" y="2788920"/>
            <a:ext cx="13716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989320" y="2697480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▶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6172200" y="1051560"/>
            <a:ext cx="2743200" cy="3703320"/>
          </a:xfrm>
          <a:prstGeom prst="rect">
            <a:avLst/>
          </a:prstGeom>
          <a:solidFill>
            <a:srgbClr val="1A2235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6172200" y="1051560"/>
            <a:ext cx="274320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6318504" y="1143000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971" y="1223467"/>
            <a:ext cx="241402" cy="241402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812280" y="1097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DATA &amp; AI TIER</a:t>
            </a:r>
            <a:endParaRPr lang="en-US" sz="950" dirty="0"/>
          </a:p>
        </p:txBody>
      </p:sp>
      <p:sp>
        <p:nvSpPr>
          <p:cNvPr id="36" name="Text 31"/>
          <p:cNvSpPr/>
          <p:nvPr/>
        </p:nvSpPr>
        <p:spPr>
          <a:xfrm>
            <a:off x="6812280" y="1362456"/>
            <a:ext cx="1965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PostgreSQL + pgvector + Groq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6355080" y="182880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Users Table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6355080" y="2368296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Documents Table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6355080" y="290779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Chunks + Embeddings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6355080" y="344728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Chat Sessions/Messages</a:t>
            </a:r>
            <a:endParaRPr lang="en-US" sz="1100" dirty="0"/>
          </a:p>
        </p:txBody>
      </p:sp>
      <p:sp>
        <p:nvSpPr>
          <p:cNvPr id="41" name="Text 36"/>
          <p:cNvSpPr/>
          <p:nvPr/>
        </p:nvSpPr>
        <p:spPr>
          <a:xfrm>
            <a:off x="6355080" y="3986784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Groq API (Llama 3.1)</a:t>
            </a:r>
            <a:endParaRPr lang="en-US" sz="1100" dirty="0"/>
          </a:p>
        </p:txBody>
      </p:sp>
      <p:sp>
        <p:nvSpPr>
          <p:cNvPr id="42" name="Text 37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4 / 18</a:t>
            </a:r>
            <a:endParaRPr lang="en-US" sz="900" dirty="0"/>
          </a:p>
        </p:txBody>
      </p:sp>
      <p:sp>
        <p:nvSpPr>
          <p:cNvPr id="43" name="Shape 3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0" y="4983480"/>
            <a:ext cx="3044952" cy="1600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6099048" y="4983480"/>
            <a:ext cx="3044952" cy="1600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04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Database Design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PostgreSQL + pgvector  |  5 core tables  |  IVFFlat vector index  |  GIN full-text index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743200" cy="1783080"/>
          </a:xfrm>
          <a:prstGeom prst="rect">
            <a:avLst/>
          </a:prstGeom>
          <a:solidFill>
            <a:srgbClr val="1A2235"/>
          </a:solidFill>
          <a:ln w="8890">
            <a:solidFill>
              <a:srgbClr val="6C6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24128"/>
            <a:ext cx="2743200" cy="347472"/>
          </a:xfrm>
          <a:prstGeom prst="rect">
            <a:avLst/>
          </a:prstGeom>
          <a:solidFill>
            <a:srgbClr val="6C63FF">
              <a:alpha val="7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6070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1435608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3FF"/>
                </a:solidFill>
              </a:rPr>
              <a:t>id (UUID PK)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84632" y="1691640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email (UNIQUE)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84632" y="194767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name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4632" y="2203704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password (bcrypt)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4632" y="2459736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role (admin|mentor|trainee)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4632" y="256032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+2 more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1024128"/>
            <a:ext cx="2743200" cy="1783080"/>
          </a:xfrm>
          <a:prstGeom prst="rect">
            <a:avLst/>
          </a:prstGeom>
          <a:solidFill>
            <a:srgbClr val="1A2235"/>
          </a:solidFill>
          <a:ln w="8890">
            <a:solidFill>
              <a:srgbClr val="00D4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024128"/>
            <a:ext cx="2743200" cy="347472"/>
          </a:xfrm>
          <a:prstGeom prst="rect">
            <a:avLst/>
          </a:prstGeom>
          <a:solidFill>
            <a:srgbClr val="00D4AA">
              <a:alpha val="7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1568" y="106070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documents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56432" y="1435608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</a:rPr>
              <a:t>id (UUID PK)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56432" y="1691640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user_id (FK)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56432" y="194767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original_name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56432" y="2203704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file_type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56432" y="2459736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file_size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56432" y="256032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+2 more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63640" y="1024128"/>
            <a:ext cx="2743200" cy="1783080"/>
          </a:xfrm>
          <a:prstGeom prst="rect">
            <a:avLst/>
          </a:prstGeom>
          <a:solidFill>
            <a:srgbClr val="1A2235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1024128"/>
            <a:ext cx="2743200" cy="347472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106070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document_chunks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28232" y="1435608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id (UUID PK)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28232" y="1691640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document_id (FK)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28232" y="194767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content (TEXT)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28232" y="2203704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embedding VECTOR(384)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28232" y="2459736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chunk_index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28232" y="256032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+1 more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" y="3017520"/>
            <a:ext cx="2743200" cy="1783080"/>
          </a:xfrm>
          <a:prstGeom prst="rect">
            <a:avLst/>
          </a:prstGeom>
          <a:solidFill>
            <a:srgbClr val="1A2235"/>
          </a:solidFill>
          <a:ln w="8890">
            <a:solidFill>
              <a:srgbClr val="FF6B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3017520"/>
            <a:ext cx="2743200" cy="347472"/>
          </a:xfrm>
          <a:prstGeom prst="rect">
            <a:avLst/>
          </a:prstGeom>
          <a:solidFill>
            <a:srgbClr val="FF6B6B">
              <a:alpha val="7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9768" y="305409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chat_sessions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4632" y="3429000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6B"/>
                </a:solidFill>
              </a:rPr>
              <a:t>id (UUID PK)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4632" y="368503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user_id (FK)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4632" y="3941064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title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4632" y="4197096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workspace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4632" y="4453128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created_at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4632" y="4553712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+1 more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91840" y="3017520"/>
            <a:ext cx="2743200" cy="1783080"/>
          </a:xfrm>
          <a:prstGeom prst="rect">
            <a:avLst/>
          </a:prstGeom>
          <a:solidFill>
            <a:srgbClr val="1A2235"/>
          </a:solidFill>
          <a:ln w="8890">
            <a:solidFill>
              <a:srgbClr val="A78BF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91840" y="3017520"/>
            <a:ext cx="2743200" cy="347472"/>
          </a:xfrm>
          <a:prstGeom prst="rect">
            <a:avLst/>
          </a:prstGeom>
          <a:solidFill>
            <a:srgbClr val="A78BFA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01568" y="305409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chat_messages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456432" y="3429000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</a:rPr>
              <a:t>id (UUID PK)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456432" y="368503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session_id (FK)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456432" y="3941064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role (user|assistant)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456432" y="4197096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content (TEXT)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456432" y="4453128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sources (JSONB)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456432" y="4553712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+1 more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989320" y="3017520"/>
            <a:ext cx="2834640" cy="161848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80760" y="307238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63FF"/>
                </a:solidFill>
              </a:rPr>
              <a:t>Vector Indexes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080760" y="338328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IVFFlat (cosine)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vector similarity search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GIN (tsvector)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full-text keyword search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5 / 18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0" y="4983480"/>
            <a:ext cx="3044952" cy="1600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099048" y="4983480"/>
            <a:ext cx="3044952" cy="1600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05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Functional Components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43200" cy="1828800"/>
          </a:xfrm>
          <a:prstGeom prst="rect">
            <a:avLst/>
          </a:prstGeom>
          <a:solidFill>
            <a:srgbClr val="1A2235"/>
          </a:solidFill>
          <a:ln w="6350">
            <a:solidFill>
              <a:srgbClr val="6C63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1069848"/>
            <a:ext cx="475488" cy="47548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866" y="1164946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06984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Authentication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84632" y="1655064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3FF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JWT-based login &amp; register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84632" y="1920240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3FF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bcrypt password hashing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84632" y="2185416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3FF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Role guards (Admin/Mentor/Trainee)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84632" y="2450592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3FF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Token expiry &amp; refresh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64408" y="960120"/>
            <a:ext cx="2743200" cy="1828800"/>
          </a:xfrm>
          <a:prstGeom prst="rect">
            <a:avLst/>
          </a:prstGeom>
          <a:solidFill>
            <a:srgbClr val="1A2235"/>
          </a:solidFill>
          <a:ln w="635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74136" y="1069848"/>
            <a:ext cx="475488" cy="47548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9234" y="1164946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50208" y="106984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Document Ingestion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3429000" y="1655064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Drag-and-drop upload UI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429000" y="1920240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PDF/DOCX/MD/CSV/TXT parsing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429000" y="2185416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Smart chunking (400w, 80 overlap)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429000" y="2450592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Async indexing with status updates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208776" y="960120"/>
            <a:ext cx="2743200" cy="1828800"/>
          </a:xfrm>
          <a:prstGeom prst="rect">
            <a:avLst/>
          </a:prstGeom>
          <a:solidFill>
            <a:srgbClr val="1A2235"/>
          </a:solidFill>
          <a:ln w="635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318504" y="1069848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602" y="1164946"/>
            <a:ext cx="285293" cy="285293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894576" y="106984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Hybrid RAG Engine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6373368" y="1655064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Vector embedding via AI service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373368" y="1920240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Semantic cosine similarity search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373368" y="2185416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Keyword full-text tsvector search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373368" y="2450592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Reciprocal Rank Fusion (RRF) merge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320040" y="2990088"/>
            <a:ext cx="2743200" cy="1828800"/>
          </a:xfrm>
          <a:prstGeom prst="rect">
            <a:avLst/>
          </a:prstGeom>
          <a:solidFill>
            <a:srgbClr val="1A2235"/>
          </a:solidFill>
          <a:ln w="6350">
            <a:solidFill>
              <a:srgbClr val="FF6B6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29768" y="3099816"/>
            <a:ext cx="475488" cy="47548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866" y="3194914"/>
            <a:ext cx="285293" cy="285293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005840" y="309981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AI Chat Interface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484632" y="3685032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Multi-session conversation history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84632" y="3950208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Source citation on every answer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484632" y="4215384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Hybrid/Semantic/Keyword modes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484632" y="4480560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Groq Llama 3.1 8B Instant LLM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3264408" y="2990088"/>
            <a:ext cx="2743200" cy="1828800"/>
          </a:xfrm>
          <a:prstGeom prst="rect">
            <a:avLst/>
          </a:prstGeom>
          <a:solidFill>
            <a:srgbClr val="1A2235"/>
          </a:solidFill>
          <a:ln w="6350">
            <a:solidFill>
              <a:srgbClr val="A78BF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3374136" y="3099816"/>
            <a:ext cx="475488" cy="47548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9234" y="3194914"/>
            <a:ext cx="285293" cy="285293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3950208" y="309981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Admin Panel</a:t>
            </a:r>
            <a:endParaRPr lang="en-US" sz="1250" dirty="0"/>
          </a:p>
        </p:txBody>
      </p:sp>
      <p:sp>
        <p:nvSpPr>
          <p:cNvPr id="40" name="Text 33"/>
          <p:cNvSpPr/>
          <p:nvPr/>
        </p:nvSpPr>
        <p:spPr>
          <a:xfrm>
            <a:off x="3429000" y="3685032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User management table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3429000" y="3950208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Inline role change dropdown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3429000" y="4215384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User deletion with confirmation</a:t>
            </a:r>
            <a:endParaRPr lang="en-US" sz="1000" dirty="0"/>
          </a:p>
        </p:txBody>
      </p:sp>
      <p:sp>
        <p:nvSpPr>
          <p:cNvPr id="43" name="Text 36"/>
          <p:cNvSpPr/>
          <p:nvPr/>
        </p:nvSpPr>
        <p:spPr>
          <a:xfrm>
            <a:off x="3429000" y="4480560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Search &amp; filter users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6208776" y="2990088"/>
            <a:ext cx="2743200" cy="1828800"/>
          </a:xfrm>
          <a:prstGeom prst="rect">
            <a:avLst/>
          </a:prstGeom>
          <a:solidFill>
            <a:srgbClr val="1A2235"/>
          </a:solidFill>
          <a:ln w="6350">
            <a:solidFill>
              <a:srgbClr val="34D399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6318504" y="3099816"/>
            <a:ext cx="475488" cy="47548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3602" y="3194914"/>
            <a:ext cx="285293" cy="285293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6894576" y="309981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Dashboard &amp; Stats</a:t>
            </a:r>
            <a:endParaRPr lang="en-US" sz="1250" dirty="0"/>
          </a:p>
        </p:txBody>
      </p:sp>
      <p:sp>
        <p:nvSpPr>
          <p:cNvPr id="48" name="Text 40"/>
          <p:cNvSpPr/>
          <p:nvPr/>
        </p:nvSpPr>
        <p:spPr>
          <a:xfrm>
            <a:off x="6373368" y="3685032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Document count &amp; size stats</a:t>
            </a:r>
            <a:endParaRPr lang="en-US" sz="1000" dirty="0"/>
          </a:p>
        </p:txBody>
      </p:sp>
      <p:sp>
        <p:nvSpPr>
          <p:cNvPr id="49" name="Text 41"/>
          <p:cNvSpPr/>
          <p:nvPr/>
        </p:nvSpPr>
        <p:spPr>
          <a:xfrm>
            <a:off x="6373368" y="3950208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Total queries and sessions</a:t>
            </a:r>
            <a:endParaRPr lang="en-US" sz="1000" dirty="0"/>
          </a:p>
        </p:txBody>
      </p:sp>
      <p:sp>
        <p:nvSpPr>
          <p:cNvPr id="50" name="Text 42"/>
          <p:cNvSpPr/>
          <p:nvPr/>
        </p:nvSpPr>
        <p:spPr>
          <a:xfrm>
            <a:off x="6373368" y="4215384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Quick-action cards (role-aware)</a:t>
            </a:r>
            <a:endParaRPr lang="en-US" sz="1000" dirty="0"/>
          </a:p>
        </p:txBody>
      </p:sp>
      <p:sp>
        <p:nvSpPr>
          <p:cNvPr id="51" name="Text 43"/>
          <p:cNvSpPr/>
          <p:nvPr/>
        </p:nvSpPr>
        <p:spPr>
          <a:xfrm>
            <a:off x="6373368" y="4480560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System status indicators</a:t>
            </a:r>
            <a:endParaRPr lang="en-US" sz="1000" dirty="0"/>
          </a:p>
        </p:txBody>
      </p:sp>
      <p:sp>
        <p:nvSpPr>
          <p:cNvPr id="52" name="Text 44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6 / 18</a:t>
            </a:r>
            <a:endParaRPr lang="en-US" sz="900" dirty="0"/>
          </a:p>
        </p:txBody>
      </p:sp>
      <p:sp>
        <p:nvSpPr>
          <p:cNvPr id="53" name="Shape 4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54" name="Shape 46"/>
          <p:cNvSpPr/>
          <p:nvPr/>
        </p:nvSpPr>
        <p:spPr>
          <a:xfrm>
            <a:off x="0" y="4983480"/>
            <a:ext cx="3044952" cy="1600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5" name="Shape 47"/>
          <p:cNvSpPr/>
          <p:nvPr/>
        </p:nvSpPr>
        <p:spPr>
          <a:xfrm>
            <a:off x="6099048" y="4983480"/>
            <a:ext cx="3044952" cy="1600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06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Final User Interfaces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43200" cy="1828800"/>
          </a:xfrm>
          <a:prstGeom prst="rect">
            <a:avLst/>
          </a:prstGeom>
          <a:solidFill>
            <a:srgbClr val="1A2235"/>
          </a:solidFill>
          <a:ln w="8890">
            <a:solidFill>
              <a:srgbClr val="6C63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69848"/>
            <a:ext cx="2468880" cy="118872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69848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34155"/>
                </a:solidFill>
              </a:rPr>
              <a:t>[ Insert UI Screenshot ]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2377440"/>
            <a:ext cx="2743200" cy="36576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242316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63FF"/>
                </a:solidFill>
              </a:rPr>
              <a:t>Login Page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2624328"/>
            <a:ext cx="2560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Glassmorphism design with role quick-fill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64408" y="960120"/>
            <a:ext cx="2743200" cy="1828800"/>
          </a:xfrm>
          <a:prstGeom prst="rect">
            <a:avLst/>
          </a:prstGeom>
          <a:solidFill>
            <a:srgbClr val="1A2235"/>
          </a:solidFill>
          <a:ln w="889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01568" y="1069848"/>
            <a:ext cx="2468880" cy="118872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1568" y="1069848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34155"/>
                </a:solidFill>
              </a:rPr>
              <a:t>[ Insert UI Screenshot ]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64408" y="2377440"/>
            <a:ext cx="27432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74136" y="242316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Dashboard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74136" y="2624328"/>
            <a:ext cx="2560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Stats grid, recent queries, system status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208776" y="960120"/>
            <a:ext cx="2743200" cy="1828800"/>
          </a:xfrm>
          <a:prstGeom prst="rect">
            <a:avLst/>
          </a:prstGeom>
          <a:solidFill>
            <a:srgbClr val="1A2235"/>
          </a:solidFill>
          <a:ln w="889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45936" y="1069848"/>
            <a:ext cx="2468880" cy="118872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5936" y="1069848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34155"/>
                </a:solidFill>
              </a:rPr>
              <a:t>[ Insert UI Screenshot 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08776" y="2377440"/>
            <a:ext cx="27432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18504" y="242316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Chat Interface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18504" y="2624328"/>
            <a:ext cx="2560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AI Q&amp;A with RAG mode selector &amp; citations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2990088"/>
            <a:ext cx="2743200" cy="1828800"/>
          </a:xfrm>
          <a:prstGeom prst="rect">
            <a:avLst/>
          </a:prstGeom>
          <a:solidFill>
            <a:srgbClr val="1A2235"/>
          </a:solidFill>
          <a:ln w="8890">
            <a:solidFill>
              <a:srgbClr val="FF6B6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099816"/>
            <a:ext cx="2468880" cy="118872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099816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34155"/>
                </a:solidFill>
              </a:rPr>
              <a:t>[ Insert UI Screenshot ]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4407408"/>
            <a:ext cx="2743200" cy="3657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" y="445312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</a:rPr>
              <a:t>Document Upload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9768" y="4654296"/>
            <a:ext cx="2560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Drag-and-drop with live indexing status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64408" y="2990088"/>
            <a:ext cx="2743200" cy="1828800"/>
          </a:xfrm>
          <a:prstGeom prst="rect">
            <a:avLst/>
          </a:prstGeom>
          <a:solidFill>
            <a:srgbClr val="1A2235"/>
          </a:solidFill>
          <a:ln w="8890">
            <a:solidFill>
              <a:srgbClr val="A78BF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01568" y="3099816"/>
            <a:ext cx="2468880" cy="118872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01568" y="3099816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34155"/>
                </a:solidFill>
              </a:rPr>
              <a:t>[ Insert UI Screenshot ]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64408" y="4407408"/>
            <a:ext cx="274320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74136" y="445312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Admin Panel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74136" y="4654296"/>
            <a:ext cx="2560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User management with inline role control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08776" y="2990088"/>
            <a:ext cx="2743200" cy="1828800"/>
          </a:xfrm>
          <a:prstGeom prst="rect">
            <a:avLst/>
          </a:prstGeom>
          <a:solidFill>
            <a:srgbClr val="1A2235"/>
          </a:solidFill>
          <a:ln w="8890">
            <a:solidFill>
              <a:srgbClr val="34D399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45936" y="3099816"/>
            <a:ext cx="2468880" cy="118872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45936" y="3099816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34155"/>
                </a:solidFill>
              </a:rPr>
              <a:t>[ Insert UI Screenshot ]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08776" y="4407408"/>
            <a:ext cx="2743200" cy="365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18504" y="445312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</a:rPr>
              <a:t>Profile/Settings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18504" y="4654296"/>
            <a:ext cx="2560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User preferences saved to localStorage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7 / 18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4983480"/>
            <a:ext cx="3044952" cy="1600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99048" y="4983480"/>
            <a:ext cx="3044952" cy="1600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6C63FF">
              <a:alpha val="1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0D4AA">
              <a:alpha val="1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07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Working Demonstration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Live system running at  http://localhost:3000  ·  Backend at  http://localhost:4000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2743200" cy="1737360"/>
          </a:xfrm>
          <a:prstGeom prst="rect">
            <a:avLst/>
          </a:prstGeom>
          <a:solidFill>
            <a:srgbClr val="1A2235"/>
          </a:solidFill>
          <a:ln w="7620">
            <a:solidFill>
              <a:srgbClr val="6C63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24712"/>
            <a:ext cx="475488" cy="47548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247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114300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Login as Admin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6916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admin@company.com  /  password123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Role badge + full nav visible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64408" y="1005840"/>
            <a:ext cx="2743200" cy="1737360"/>
          </a:xfrm>
          <a:prstGeom prst="rect">
            <a:avLst/>
          </a:prstGeom>
          <a:solidFill>
            <a:srgbClr val="1A2235"/>
          </a:solidFill>
          <a:ln w="762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01568" y="1124712"/>
            <a:ext cx="475488" cy="47548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11247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950208" y="114300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Upload a Document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01568" y="16916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Upload PDF/DOCX  →  Watch status: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Uploaded → Processing → Indexed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08776" y="1005840"/>
            <a:ext cx="2743200" cy="1737360"/>
          </a:xfrm>
          <a:prstGeom prst="rect">
            <a:avLst/>
          </a:prstGeom>
          <a:solidFill>
            <a:srgbClr val="1A2235"/>
          </a:solidFill>
          <a:ln w="762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45936" y="1124712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45936" y="11247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94576" y="114300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Ask a Question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45936" y="16916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Type any question related to the doc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Select Hybrid/Semantic/Keyword mode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2944368"/>
            <a:ext cx="2743200" cy="1737360"/>
          </a:xfrm>
          <a:prstGeom prst="rect">
            <a:avLst/>
          </a:prstGeom>
          <a:solidFill>
            <a:srgbClr val="1A2235"/>
          </a:solidFill>
          <a:ln w="7620">
            <a:solidFill>
              <a:srgbClr val="FF6B6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063240"/>
            <a:ext cx="475488" cy="47548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0632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05840" y="308152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See AI Answer + Source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63016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Groq Llama 3.1 generates response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Source document cited with page ref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64408" y="2944368"/>
            <a:ext cx="2743200" cy="1737360"/>
          </a:xfrm>
          <a:prstGeom prst="rect">
            <a:avLst/>
          </a:prstGeom>
          <a:solidFill>
            <a:srgbClr val="1A2235"/>
          </a:solidFill>
          <a:ln w="7620">
            <a:solidFill>
              <a:srgbClr val="A78BF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01568" y="3063240"/>
            <a:ext cx="475488" cy="47548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01568" y="30632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950208" y="308152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Switch to Trainee Role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401568" y="363016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Login as trainee@company.com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Upload button hidden — role enforced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08776" y="2944368"/>
            <a:ext cx="2743200" cy="1737360"/>
          </a:xfrm>
          <a:prstGeom prst="rect">
            <a:avLst/>
          </a:prstGeom>
          <a:solidFill>
            <a:srgbClr val="1A2235"/>
          </a:solidFill>
          <a:ln w="7620">
            <a:solidFill>
              <a:srgbClr val="34D399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345936" y="3063240"/>
            <a:ext cx="475488" cy="47548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45936" y="30632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894576" y="308152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Admin Panel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45936" y="363016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Login as admin  →  Manage Users tab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Change roles, delete users live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8 / 18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983480"/>
            <a:ext cx="3044952" cy="1600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99048" y="4983480"/>
            <a:ext cx="3044952" cy="1600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08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Testing &amp; Validation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2011680" cy="914400"/>
          </a:xfrm>
          <a:prstGeom prst="rect">
            <a:avLst/>
          </a:prstGeom>
          <a:solidFill>
            <a:srgbClr val="1A2235"/>
          </a:solidFill>
          <a:ln w="8890">
            <a:solidFill>
              <a:srgbClr val="6C6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241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C63FF"/>
                </a:solidFill>
              </a:rPr>
              <a:t>24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" y="1554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Test Cases Total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96312" y="987552"/>
            <a:ext cx="2011680" cy="914400"/>
          </a:xfrm>
          <a:prstGeom prst="rect">
            <a:avLst/>
          </a:prstGeom>
          <a:solidFill>
            <a:srgbClr val="1A2235"/>
          </a:solidFill>
          <a:ln w="889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96312" y="10241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AA"/>
                </a:solidFill>
              </a:rPr>
              <a:t>22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96312" y="1554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Passed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72584" y="987552"/>
            <a:ext cx="2011680" cy="914400"/>
          </a:xfrm>
          <a:prstGeom prst="rect">
            <a:avLst/>
          </a:prstGeom>
          <a:solidFill>
            <a:srgbClr val="1A2235"/>
          </a:solidFill>
          <a:ln w="889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72584" y="10241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6B"/>
                </a:solidFill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72584" y="1554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Failed (Fixed)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48856" y="987552"/>
            <a:ext cx="2011680" cy="914400"/>
          </a:xfrm>
          <a:prstGeom prst="rect">
            <a:avLst/>
          </a:prstGeom>
          <a:solidFill>
            <a:srgbClr val="1A2235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48856" y="10241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</a:rPr>
              <a:t>91.7%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848856" y="1554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Pass Rate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993392"/>
          <a:ext cx="8503920" cy="2697480"/>
        </p:xfrm>
        <a:graphic>
          <a:graphicData uri="http://schemas.openxmlformats.org/drawingml/2006/table">
            <a:tbl>
              <a:tblPr/>
              <a:tblGrid>
                <a:gridCol w="2011680"/>
                <a:gridCol w="4754880"/>
                <a:gridCol w="1737360"/>
              </a:tblGrid>
              <a:tr h="299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Test Case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Authentication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Valid login → JWT returned + redirect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✅ Pass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Authentication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Duplicate email registration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✅ Pass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Document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PDF upload → status processing→indexed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✅ Pass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Document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Trainee attempts upload → 403 Forbidden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✅ Pass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RAG Query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Question answered with source citation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✅ Pass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RAG Query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Hybrid mode merges semantic+keyword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✅ Pass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Admin Panel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Mentor access → 403 role insufficient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✅ Pass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HuggingFace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API blob error → local fallback activates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🔧 Fixed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9 / 18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4983480"/>
            <a:ext cx="3044952" cy="1600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99048" y="4983480"/>
            <a:ext cx="3044952" cy="1600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09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Methodology &amp; Algorithms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Hybrid RAG = Semantic Search + Keyword Search + Reciprocal Rank Fusion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63FF"/>
                </a:solidFill>
              </a:rPr>
              <a:t>INGESTION PIPELINE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1508760" cy="868680"/>
          </a:xfrm>
          <a:prstGeom prst="rect">
            <a:avLst/>
          </a:prstGeom>
          <a:solidFill>
            <a:srgbClr val="6C63FF">
              <a:alpha val="8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98448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Upload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828800" y="1298448"/>
            <a:ext cx="228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C63FF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057400" y="1298448"/>
            <a:ext cx="1508760" cy="868680"/>
          </a:xfrm>
          <a:prstGeom prst="rect">
            <a:avLst/>
          </a:prstGeom>
          <a:solidFill>
            <a:srgbClr val="00D4AA">
              <a:alpha val="8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1298448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Parse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66160" y="1298448"/>
            <a:ext cx="228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AA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94760" y="1298448"/>
            <a:ext cx="1508760" cy="86868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1298448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Chunk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(400w/80 overlap)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03520" y="1298448"/>
            <a:ext cx="228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32120" y="1298448"/>
            <a:ext cx="1508760" cy="868680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1298448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Embed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(vector)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040880" y="1298448"/>
            <a:ext cx="228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B6B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269480" y="1298448"/>
            <a:ext cx="1508760" cy="868680"/>
          </a:xfrm>
          <a:prstGeom prst="rect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9480" y="1298448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Store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(pgvector)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0040" y="23317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QUERY PIPELINE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624328"/>
            <a:ext cx="1508760" cy="749808"/>
          </a:xfrm>
          <a:prstGeom prst="rect">
            <a:avLst/>
          </a:prstGeom>
          <a:solidFill>
            <a:srgbClr val="6C63FF">
              <a:alpha val="8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624328"/>
            <a:ext cx="1508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Question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Input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828800" y="2624328"/>
            <a:ext cx="228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C63FF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057400" y="2624328"/>
            <a:ext cx="1508760" cy="749808"/>
          </a:xfrm>
          <a:prstGeom prst="rect">
            <a:avLst/>
          </a:prstGeom>
          <a:solidFill>
            <a:srgbClr val="00D4AA">
              <a:alpha val="8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57400" y="2624328"/>
            <a:ext cx="1508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Embed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Query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566160" y="2624328"/>
            <a:ext cx="228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AA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749040" y="2624328"/>
            <a:ext cx="1508760" cy="32004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49040" y="2624328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Semantic Search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(cosine similarity)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749040" y="3054096"/>
            <a:ext cx="1508760" cy="320040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0" y="3054096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Keyword Search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(tsvector GIN)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257800" y="2624328"/>
            <a:ext cx="228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78BFA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486400" y="2624328"/>
            <a:ext cx="1508760" cy="749808"/>
          </a:xfrm>
          <a:prstGeom prst="rect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0" y="2624328"/>
            <a:ext cx="1508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RRF Merge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(top 5 chunks)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95160" y="2624328"/>
            <a:ext cx="228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4D399"/>
                </a:solidFill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223760" y="2624328"/>
            <a:ext cx="1600200" cy="749808"/>
          </a:xfrm>
          <a:prstGeom prst="rect">
            <a:avLst/>
          </a:prstGeom>
          <a:solidFill>
            <a:srgbClr val="34D399">
              <a:alpha val="8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23760" y="2624328"/>
            <a:ext cx="1600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Groq LLM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+ Answer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+ Citations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3566160"/>
            <a:ext cx="8503920" cy="82296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657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RRF Formula: 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920240" y="365760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score(d) = Σ 1 / (k + rank(d))   where k = 60  |  Final rank merges semantic + keyword results for superior accuracy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10 / 18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4983480"/>
            <a:ext cx="3044952" cy="1600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99048" y="4983480"/>
            <a:ext cx="3044952" cy="1600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10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Tools &amp; Technologies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43200" cy="1828800"/>
          </a:xfrm>
          <a:prstGeom prst="rect">
            <a:avLst/>
          </a:prstGeom>
          <a:solidFill>
            <a:srgbClr val="1A2235"/>
          </a:solidFill>
          <a:ln w="6350">
            <a:solidFill>
              <a:srgbClr val="6C63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743200" cy="411480"/>
          </a:xfrm>
          <a:prstGeom prst="rect">
            <a:avLst/>
          </a:prstGeom>
          <a:solidFill>
            <a:srgbClr val="6C63FF">
              <a:alpha val="75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" y="987552"/>
            <a:ext cx="347472" cy="3474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30" y="1057046"/>
            <a:ext cx="208483" cy="20848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0241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435608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3FF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React.js v18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1700784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3FF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Vite v5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1965960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3FF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React Router v6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2231136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3FF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Context API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57200" y="2496312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3FF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CSS3 Glassmorphism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64408" y="960120"/>
            <a:ext cx="2743200" cy="1828800"/>
          </a:xfrm>
          <a:prstGeom prst="rect">
            <a:avLst/>
          </a:prstGeom>
          <a:solidFill>
            <a:srgbClr val="1A2235"/>
          </a:solidFill>
          <a:ln w="635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64408" y="960120"/>
            <a:ext cx="2743200" cy="411480"/>
          </a:xfrm>
          <a:prstGeom prst="rect">
            <a:avLst/>
          </a:prstGeom>
          <a:solidFill>
            <a:srgbClr val="00D4AA">
              <a:alpha val="7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46704" y="987552"/>
            <a:ext cx="347472" cy="3474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6198" y="1057046"/>
            <a:ext cx="208483" cy="20848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813048" y="10241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Backend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401568" y="1435608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Node.js v18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3401568" y="1700784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Express.js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3401568" y="1965960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JWT (jsonwebtoken)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3401568" y="2231136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bcryptjs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3401568" y="2496312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Multer (file upload)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208776" y="960120"/>
            <a:ext cx="2743200" cy="1828800"/>
          </a:xfrm>
          <a:prstGeom prst="rect">
            <a:avLst/>
          </a:prstGeom>
          <a:solidFill>
            <a:srgbClr val="1A2235"/>
          </a:solidFill>
          <a:ln w="635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208776" y="960120"/>
            <a:ext cx="2743200" cy="411480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291072" y="987552"/>
            <a:ext cx="347472" cy="3474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566" y="1057046"/>
            <a:ext cx="208483" cy="208483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757416" y="10241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Database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345936" y="1435608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PostgreSQL v14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6345936" y="1700784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pgvector extension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6345936" y="1965960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IVFFlat Index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6345936" y="2231136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GIN Full-Text Index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6345936" y="2496312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pg (node driver)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320040" y="2971800"/>
            <a:ext cx="2743200" cy="1828800"/>
          </a:xfrm>
          <a:prstGeom prst="rect">
            <a:avLst/>
          </a:prstGeom>
          <a:solidFill>
            <a:srgbClr val="1A2235"/>
          </a:solidFill>
          <a:ln w="6350">
            <a:solidFill>
              <a:srgbClr val="FF6B6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320040" y="2971800"/>
            <a:ext cx="2743200" cy="411480"/>
          </a:xfrm>
          <a:prstGeom prst="rect">
            <a:avLst/>
          </a:prstGeom>
          <a:solidFill>
            <a:srgbClr val="FF6B6B">
              <a:alpha val="75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402336" y="2999232"/>
            <a:ext cx="347472" cy="3474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" y="3068726"/>
            <a:ext cx="208483" cy="208483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868680" y="303580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&amp; APIs</a:t>
            </a:r>
            <a:endParaRPr lang="en-US" sz="1300" dirty="0"/>
          </a:p>
        </p:txBody>
      </p:sp>
      <p:sp>
        <p:nvSpPr>
          <p:cNvPr id="39" name="Text 33"/>
          <p:cNvSpPr/>
          <p:nvPr/>
        </p:nvSpPr>
        <p:spPr>
          <a:xfrm>
            <a:off x="457200" y="3447288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6B6B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Groq API</a:t>
            </a:r>
            <a:endParaRPr lang="en-US" sz="1050" dirty="0"/>
          </a:p>
        </p:txBody>
      </p:sp>
      <p:sp>
        <p:nvSpPr>
          <p:cNvPr id="40" name="Text 34"/>
          <p:cNvSpPr/>
          <p:nvPr/>
        </p:nvSpPr>
        <p:spPr>
          <a:xfrm>
            <a:off x="457200" y="3712464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6B6B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Llama 3.1 8B Instant</a:t>
            </a:r>
            <a:endParaRPr lang="en-US" sz="1050" dirty="0"/>
          </a:p>
        </p:txBody>
      </p:sp>
      <p:sp>
        <p:nvSpPr>
          <p:cNvPr id="41" name="Text 35"/>
          <p:cNvSpPr/>
          <p:nvPr/>
        </p:nvSpPr>
        <p:spPr>
          <a:xfrm>
            <a:off x="457200" y="3977640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6B6B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Local TF-IDF Embeddings</a:t>
            </a:r>
            <a:endParaRPr lang="en-US" sz="1050" dirty="0"/>
          </a:p>
        </p:txBody>
      </p:sp>
      <p:sp>
        <p:nvSpPr>
          <p:cNvPr id="42" name="Text 36"/>
          <p:cNvSpPr/>
          <p:nvPr/>
        </p:nvSpPr>
        <p:spPr>
          <a:xfrm>
            <a:off x="457200" y="4242816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6B6B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pdf-parse</a:t>
            </a:r>
            <a:endParaRPr lang="en-US" sz="1050" dirty="0"/>
          </a:p>
        </p:txBody>
      </p:sp>
      <p:sp>
        <p:nvSpPr>
          <p:cNvPr id="43" name="Text 37"/>
          <p:cNvSpPr/>
          <p:nvPr/>
        </p:nvSpPr>
        <p:spPr>
          <a:xfrm>
            <a:off x="457200" y="4507992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6B6B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mammoth.js (DOCX)</a:t>
            </a:r>
            <a:endParaRPr lang="en-US" sz="1050" dirty="0"/>
          </a:p>
        </p:txBody>
      </p:sp>
      <p:sp>
        <p:nvSpPr>
          <p:cNvPr id="44" name="Shape 38"/>
          <p:cNvSpPr/>
          <p:nvPr/>
        </p:nvSpPr>
        <p:spPr>
          <a:xfrm>
            <a:off x="3264408" y="2971800"/>
            <a:ext cx="2743200" cy="1828800"/>
          </a:xfrm>
          <a:prstGeom prst="rect">
            <a:avLst/>
          </a:prstGeom>
          <a:solidFill>
            <a:srgbClr val="1A2235"/>
          </a:solidFill>
          <a:ln w="6350">
            <a:solidFill>
              <a:srgbClr val="A78BF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45" name="Shape 39"/>
          <p:cNvSpPr/>
          <p:nvPr/>
        </p:nvSpPr>
        <p:spPr>
          <a:xfrm>
            <a:off x="3264408" y="2971800"/>
            <a:ext cx="2743200" cy="411480"/>
          </a:xfrm>
          <a:prstGeom prst="rect">
            <a:avLst/>
          </a:prstGeom>
          <a:solidFill>
            <a:srgbClr val="A78BFA">
              <a:alpha val="7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3346704" y="2999232"/>
            <a:ext cx="347472" cy="3474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6198" y="3068726"/>
            <a:ext cx="208483" cy="208483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3813048" y="303580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Dev Tools</a:t>
            </a:r>
            <a:endParaRPr lang="en-US" sz="1300" dirty="0"/>
          </a:p>
        </p:txBody>
      </p:sp>
      <p:sp>
        <p:nvSpPr>
          <p:cNvPr id="49" name="Text 42"/>
          <p:cNvSpPr/>
          <p:nvPr/>
        </p:nvSpPr>
        <p:spPr>
          <a:xfrm>
            <a:off x="3401568" y="3447288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Git &amp; GitHub</a:t>
            </a:r>
            <a:endParaRPr lang="en-US" sz="1050" dirty="0"/>
          </a:p>
        </p:txBody>
      </p:sp>
      <p:sp>
        <p:nvSpPr>
          <p:cNvPr id="50" name="Text 43"/>
          <p:cNvSpPr/>
          <p:nvPr/>
        </p:nvSpPr>
        <p:spPr>
          <a:xfrm>
            <a:off x="3401568" y="3712464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pgAdmin 4</a:t>
            </a:r>
            <a:endParaRPr lang="en-US" sz="1050" dirty="0"/>
          </a:p>
        </p:txBody>
      </p:sp>
      <p:sp>
        <p:nvSpPr>
          <p:cNvPr id="51" name="Text 44"/>
          <p:cNvSpPr/>
          <p:nvPr/>
        </p:nvSpPr>
        <p:spPr>
          <a:xfrm>
            <a:off x="3401568" y="3977640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VS Code</a:t>
            </a:r>
            <a:endParaRPr lang="en-US" sz="1050" dirty="0"/>
          </a:p>
        </p:txBody>
      </p:sp>
      <p:sp>
        <p:nvSpPr>
          <p:cNvPr id="52" name="Text 45"/>
          <p:cNvSpPr/>
          <p:nvPr/>
        </p:nvSpPr>
        <p:spPr>
          <a:xfrm>
            <a:off x="3401568" y="4242816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Postman (API test)</a:t>
            </a:r>
            <a:endParaRPr lang="en-US" sz="1050" dirty="0"/>
          </a:p>
        </p:txBody>
      </p:sp>
      <p:sp>
        <p:nvSpPr>
          <p:cNvPr id="53" name="Text 46"/>
          <p:cNvSpPr/>
          <p:nvPr/>
        </p:nvSpPr>
        <p:spPr>
          <a:xfrm>
            <a:off x="3401568" y="4507992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concurrently (monorepo)</a:t>
            </a:r>
            <a:endParaRPr lang="en-US" sz="1050" dirty="0"/>
          </a:p>
        </p:txBody>
      </p:sp>
      <p:sp>
        <p:nvSpPr>
          <p:cNvPr id="54" name="Shape 47"/>
          <p:cNvSpPr/>
          <p:nvPr/>
        </p:nvSpPr>
        <p:spPr>
          <a:xfrm>
            <a:off x="6208776" y="2971800"/>
            <a:ext cx="2743200" cy="1828800"/>
          </a:xfrm>
          <a:prstGeom prst="rect">
            <a:avLst/>
          </a:prstGeom>
          <a:solidFill>
            <a:srgbClr val="1A2235"/>
          </a:solidFill>
          <a:ln w="6350">
            <a:solidFill>
              <a:srgbClr val="34D399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55" name="Shape 48"/>
          <p:cNvSpPr/>
          <p:nvPr/>
        </p:nvSpPr>
        <p:spPr>
          <a:xfrm>
            <a:off x="6208776" y="2971800"/>
            <a:ext cx="2743200" cy="411480"/>
          </a:xfrm>
          <a:prstGeom prst="rect">
            <a:avLst/>
          </a:prstGeom>
          <a:solidFill>
            <a:srgbClr val="34D399">
              <a:alpha val="7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6" name="Shape 49"/>
          <p:cNvSpPr/>
          <p:nvPr/>
        </p:nvSpPr>
        <p:spPr>
          <a:xfrm>
            <a:off x="6291072" y="2999232"/>
            <a:ext cx="347472" cy="3474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5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0566" y="3068726"/>
            <a:ext cx="208483" cy="208483"/>
          </a:xfrm>
          <a:prstGeom prst="rect">
            <a:avLst/>
          </a:prstGeom>
        </p:spPr>
      </p:pic>
      <p:sp>
        <p:nvSpPr>
          <p:cNvPr id="58" name="Text 50"/>
          <p:cNvSpPr/>
          <p:nvPr/>
        </p:nvSpPr>
        <p:spPr>
          <a:xfrm>
            <a:off x="6757416" y="303580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Security</a:t>
            </a:r>
            <a:endParaRPr lang="en-US" sz="1300" dirty="0"/>
          </a:p>
        </p:txBody>
      </p:sp>
      <p:sp>
        <p:nvSpPr>
          <p:cNvPr id="59" name="Text 51"/>
          <p:cNvSpPr/>
          <p:nvPr/>
        </p:nvSpPr>
        <p:spPr>
          <a:xfrm>
            <a:off x="6345936" y="3447288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Helmet.js</a:t>
            </a:r>
            <a:endParaRPr lang="en-US" sz="1050" dirty="0"/>
          </a:p>
        </p:txBody>
      </p:sp>
      <p:sp>
        <p:nvSpPr>
          <p:cNvPr id="60" name="Text 52"/>
          <p:cNvSpPr/>
          <p:nvPr/>
        </p:nvSpPr>
        <p:spPr>
          <a:xfrm>
            <a:off x="6345936" y="3712464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CORS middleware</a:t>
            </a:r>
            <a:endParaRPr lang="en-US" sz="1050" dirty="0"/>
          </a:p>
        </p:txBody>
      </p:sp>
      <p:sp>
        <p:nvSpPr>
          <p:cNvPr id="61" name="Text 53"/>
          <p:cNvSpPr/>
          <p:nvPr/>
        </p:nvSpPr>
        <p:spPr>
          <a:xfrm>
            <a:off x="6345936" y="3977640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Rate limiting</a:t>
            </a:r>
            <a:endParaRPr lang="en-US" sz="1050" dirty="0"/>
          </a:p>
        </p:txBody>
      </p:sp>
      <p:sp>
        <p:nvSpPr>
          <p:cNvPr id="62" name="Text 54"/>
          <p:cNvSpPr/>
          <p:nvPr/>
        </p:nvSpPr>
        <p:spPr>
          <a:xfrm>
            <a:off x="6345936" y="4242816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Parameterized SQL</a:t>
            </a:r>
            <a:endParaRPr lang="en-US" sz="1050" dirty="0"/>
          </a:p>
        </p:txBody>
      </p:sp>
      <p:sp>
        <p:nvSpPr>
          <p:cNvPr id="63" name="Text 55"/>
          <p:cNvSpPr/>
          <p:nvPr/>
        </p:nvSpPr>
        <p:spPr>
          <a:xfrm>
            <a:off x="6345936" y="4507992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Role-based guards</a:t>
            </a:r>
            <a:endParaRPr lang="en-US" sz="1050" dirty="0"/>
          </a:p>
        </p:txBody>
      </p:sp>
      <p:sp>
        <p:nvSpPr>
          <p:cNvPr id="64" name="Text 56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11 / 18</a:t>
            </a:r>
            <a:endParaRPr lang="en-US" sz="900" dirty="0"/>
          </a:p>
        </p:txBody>
      </p:sp>
      <p:sp>
        <p:nvSpPr>
          <p:cNvPr id="65" name="Shape 5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6" name="Shape 58"/>
          <p:cNvSpPr/>
          <p:nvPr/>
        </p:nvSpPr>
        <p:spPr>
          <a:xfrm>
            <a:off x="0" y="4983480"/>
            <a:ext cx="3044952" cy="1600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7" name="Shape 59"/>
          <p:cNvSpPr/>
          <p:nvPr/>
        </p:nvSpPr>
        <p:spPr>
          <a:xfrm>
            <a:off x="6099048" y="4983480"/>
            <a:ext cx="3044952" cy="1600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11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Results &amp; Outcomes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011680" cy="1234440"/>
          </a:xfrm>
          <a:prstGeom prst="rect">
            <a:avLst/>
          </a:prstGeom>
          <a:solidFill>
            <a:srgbClr val="1A2235"/>
          </a:solidFill>
          <a:ln w="10160">
            <a:solidFill>
              <a:srgbClr val="6C63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8755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C63FF"/>
                </a:solidFill>
              </a:rPr>
              <a:t>5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20040" y="15544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Document Formats Supported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PDF · DOCX · MD · CSV · TXT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96312" y="960120"/>
            <a:ext cx="2011680" cy="1234440"/>
          </a:xfrm>
          <a:prstGeom prst="rect">
            <a:avLst/>
          </a:prstGeom>
          <a:solidFill>
            <a:srgbClr val="1A2235"/>
          </a:solidFill>
          <a:ln w="1016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96312" y="98755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D4AA"/>
                </a:solidFill>
              </a:rPr>
              <a:t>3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496312" y="15544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User Roles Implemented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Admin · Mentor · Trainee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72584" y="960120"/>
            <a:ext cx="2011680" cy="1234440"/>
          </a:xfrm>
          <a:prstGeom prst="rect">
            <a:avLst/>
          </a:prstGeom>
          <a:solidFill>
            <a:srgbClr val="1A2235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72584" y="98755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</a:rPr>
              <a:t>&lt;2s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672584" y="15544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Groq LLM Response Time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Llama 3.1 8B Instant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48856" y="960120"/>
            <a:ext cx="2011680" cy="1234440"/>
          </a:xfrm>
          <a:prstGeom prst="rect">
            <a:avLst/>
          </a:prstGeom>
          <a:solidFill>
            <a:srgbClr val="1A2235"/>
          </a:solidFill>
          <a:ln w="10160">
            <a:solidFill>
              <a:srgbClr val="FF6B6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48856" y="98755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6B6B"/>
                </a:solidFill>
              </a:rPr>
              <a:t>100%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848856" y="15544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Source Attribution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Every AI answer has citations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2359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Objectives vs Achievements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651760"/>
          <a:ext cx="8503920" cy="2286000"/>
        </p:xfrm>
        <a:graphic>
          <a:graphicData uri="http://schemas.openxmlformats.org/drawingml/2006/table">
            <a:tbl>
              <a:tblPr/>
              <a:tblGrid>
                <a:gridCol w="3749040"/>
                <a:gridCol w="4754880"/>
              </a:tblGrid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Planned Objective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Achievement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Centralized AI Q&amp;A chatbot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✅ Fully implemented — Groq Llama 3.1 powered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Source-attributed responses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✅ Source filenames cited in every answer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Hybrid RAG pipeline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✅ Semantic + Keyword + RRF merge working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Role-based access control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✅ Admin/Mentor/Trainee with route guards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Multi-document reasoning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✅ Top-5 chunk retrieval across all docs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Third-party integrations (Slack, Notion)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⏳ Deferred to Future Phase 2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12 / 18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0" y="4983480"/>
            <a:ext cx="3044952" cy="1600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99048" y="4983480"/>
            <a:ext cx="3044952" cy="1600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12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Challenges Faced &amp; Solutions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206240" cy="1298448"/>
          </a:xfrm>
          <a:prstGeom prst="rect">
            <a:avLst/>
          </a:prstGeom>
          <a:solidFill>
            <a:srgbClr val="1A2235"/>
          </a:solidFill>
          <a:ln w="6350">
            <a:solidFill>
              <a:srgbClr val="FF6B6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1069848"/>
            <a:ext cx="384048" cy="38404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069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51960" y="1069848"/>
            <a:ext cx="219456" cy="2286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42816" y="1069848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914400" y="1051560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⚠ HuggingFace API — All models failed with 'blob error'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" y="1527048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✓ Migrated to Groq API (Llama 3.1 8B Instant) + built local TF-IDF embedding fallback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4206240" cy="1298448"/>
          </a:xfrm>
          <a:prstGeom prst="rect">
            <a:avLst/>
          </a:prstGeom>
          <a:solidFill>
            <a:srgbClr val="1A2235"/>
          </a:solidFill>
          <a:ln w="635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64608" y="1069848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069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86800" y="1069848"/>
            <a:ext cx="219456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77656" y="1069848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Medium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349240" y="1051560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⚠ pgvector installation failure on Windows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64608" y="1527048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✓ Used Docker image pgvector/pgvector:pg16 with extension pre-installed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386584"/>
            <a:ext cx="4206240" cy="1298448"/>
          </a:xfrm>
          <a:prstGeom prst="rect">
            <a:avLst/>
          </a:prstGeom>
          <a:solidFill>
            <a:srgbClr val="1A2235"/>
          </a:solidFill>
          <a:ln w="6350">
            <a:solidFill>
              <a:srgbClr val="A78BF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9768" y="2496312"/>
            <a:ext cx="384048" cy="38404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24963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251960" y="2496312"/>
            <a:ext cx="219456" cy="2286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42816" y="2496312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914400" y="2478024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⚠ Dashboard black screen — stats.changes was undefined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9768" y="2953512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✓ Removed the broken field reference; added proper try-catch error boundaries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386584"/>
            <a:ext cx="4206240" cy="1298448"/>
          </a:xfrm>
          <a:prstGeom prst="rect">
            <a:avLst/>
          </a:prstGeom>
          <a:solidFill>
            <a:srgbClr val="1A2235"/>
          </a:solidFill>
          <a:ln w="6350">
            <a:solidFill>
              <a:srgbClr val="6C63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64608" y="2496312"/>
            <a:ext cx="384048" cy="38404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24963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686800" y="2496312"/>
            <a:ext cx="219456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77656" y="2496312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Medium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349240" y="2478024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⚠ NaN MB · Invalid Date in Document list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64608" y="2953512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✓ Backend sends snake_case fields; added normalise() mapper in DocumentList.jsx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3813048"/>
            <a:ext cx="4206240" cy="1298448"/>
          </a:xfrm>
          <a:prstGeom prst="rect">
            <a:avLst/>
          </a:prstGeom>
          <a:solidFill>
            <a:srgbClr val="1A2235"/>
          </a:solidFill>
          <a:ln w="635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29768" y="3922776"/>
            <a:ext cx="384048" cy="38404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9768" y="39227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251960" y="3922776"/>
            <a:ext cx="219456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42816" y="3922776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Medium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914400" y="3904488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⚠ CORS errors between Vite (3000) and Express (4000)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29768" y="4379976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✓ Configured Helmet.js CORS with FRONTEND_URL env variable whitelist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3813048"/>
            <a:ext cx="4206240" cy="1298448"/>
          </a:xfrm>
          <a:prstGeom prst="rect">
            <a:avLst/>
          </a:prstGeom>
          <a:solidFill>
            <a:srgbClr val="1A2235"/>
          </a:solidFill>
          <a:ln w="6350">
            <a:solidFill>
              <a:srgbClr val="34D399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64608" y="3922776"/>
            <a:ext cx="384048" cy="38404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64608" y="39227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686800" y="3922776"/>
            <a:ext cx="219456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77656" y="3922776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Medium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349240" y="3904488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⚠ Chat history not loading on session switch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64608" y="4379976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✓ Added GET /api/chat/sessions/:id/messages endpoint + session click handler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13 / 18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4983480"/>
            <a:ext cx="3044952" cy="1600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99048" y="4983480"/>
            <a:ext cx="3044952" cy="1600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Testing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63FF"/>
                </a:solidFill>
              </a:rPr>
              <a:t>Performance &amp; Accuracy Metrics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987552"/>
          <a:ext cx="5029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987552"/>
            <a:ext cx="3246120" cy="822960"/>
          </a:xfrm>
          <a:prstGeom prst="rect">
            <a:avLst/>
          </a:prstGeom>
          <a:solidFill>
            <a:srgbClr val="1A2235"/>
          </a:solidFill>
          <a:ln w="7620">
            <a:solidFill>
              <a:srgbClr val="6C63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577840" y="98755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C63FF"/>
                </a:solidFill>
              </a:rPr>
              <a:t>+23%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577840" y="1481328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Search Accuracy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(Hybrid vs keyword only)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577840" y="1938528"/>
            <a:ext cx="3246120" cy="822960"/>
          </a:xfrm>
          <a:prstGeom prst="rect">
            <a:avLst/>
          </a:prstGeom>
          <a:solidFill>
            <a:srgbClr val="1A2235"/>
          </a:solidFill>
          <a:ln w="7620">
            <a:solidFill>
              <a:srgbClr val="00D4A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77840" y="1938528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AA"/>
                </a:solidFill>
              </a:rPr>
              <a:t>99.9%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577840" y="2432304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Groq API Uptime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(during development)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577840" y="2889504"/>
            <a:ext cx="3246120" cy="822960"/>
          </a:xfrm>
          <a:prstGeom prst="rect">
            <a:avLst/>
          </a:prstGeom>
          <a:solidFill>
            <a:srgbClr val="1A2235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77840" y="2889504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384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577840" y="3383280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Embedding Dim.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577840" y="3840480"/>
            <a:ext cx="3246120" cy="822960"/>
          </a:xfrm>
          <a:prstGeom prst="rect">
            <a:avLst/>
          </a:prstGeom>
          <a:solidFill>
            <a:srgbClr val="1A2235"/>
          </a:solidFill>
          <a:ln w="7620">
            <a:solidFill>
              <a:srgbClr val="FF6B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77840" y="38404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6B"/>
                </a:solidFill>
              </a:rPr>
              <a:t>50 MB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5577840" y="4334256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Max File Size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14 / 18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4983480"/>
            <a:ext cx="3044952" cy="1600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99048" y="4983480"/>
            <a:ext cx="3044952" cy="1600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13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Future Scope &amp; Enhancements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206240" cy="1828800"/>
          </a:xfrm>
          <a:prstGeom prst="rect">
            <a:avLst/>
          </a:prstGeom>
          <a:solidFill>
            <a:srgbClr val="1A2235"/>
          </a:solidFill>
          <a:ln w="7620">
            <a:solidFill>
              <a:srgbClr val="6C63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502920" cy="1828800"/>
          </a:xfrm>
          <a:prstGeom prst="rect">
            <a:avLst/>
          </a:prstGeom>
          <a:solidFill>
            <a:srgbClr val="6C63FF">
              <a:alpha val="8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0332" y="1106424"/>
            <a:ext cx="402336" cy="402336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799" y="1186891"/>
            <a:ext cx="241402" cy="24140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68680" y="960120"/>
            <a:ext cx="594360" cy="25603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96012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2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60120" y="1252728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Third-Party Integrations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60120" y="167335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3FF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Slack workspace connector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60120" y="194767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3FF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Notion page sync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60120" y="222199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3FF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Gmail / Outlook ingestion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60120" y="249631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3FF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OAuth 2.0 flows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54880" y="960120"/>
            <a:ext cx="4206240" cy="1828800"/>
          </a:xfrm>
          <a:prstGeom prst="rect">
            <a:avLst/>
          </a:prstGeom>
          <a:solidFill>
            <a:srgbClr val="1A2235"/>
          </a:solidFill>
          <a:ln w="762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54880" y="960120"/>
            <a:ext cx="502920" cy="1828800"/>
          </a:xfrm>
          <a:prstGeom prst="rect">
            <a:avLst/>
          </a:prstGeom>
          <a:solidFill>
            <a:srgbClr val="00D4AA">
              <a:alpha val="8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805172" y="1106424"/>
            <a:ext cx="402336" cy="40233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639" y="1186891"/>
            <a:ext cx="241402" cy="241402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303520" y="960120"/>
            <a:ext cx="594360" cy="2560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303520" y="96012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2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5394960" y="1252728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Advanced AI Features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5394960" y="167335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Multi-modal (image/chart) parsing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394960" y="194767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Fine-tuned domain LLM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394960" y="222199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Semantic chunking strategy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394960" y="249631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Query analytics &amp; gap analysis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320040" y="2971800"/>
            <a:ext cx="4206240" cy="1828800"/>
          </a:xfrm>
          <a:prstGeom prst="rect">
            <a:avLst/>
          </a:prstGeom>
          <a:solidFill>
            <a:srgbClr val="1A2235"/>
          </a:solidFill>
          <a:ln w="762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320040" y="2971800"/>
            <a:ext cx="502920" cy="182880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370332" y="3118104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" y="3198571"/>
            <a:ext cx="241402" cy="241402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868680" y="2971800"/>
            <a:ext cx="59436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868680" y="297180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3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960120" y="3264408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Scale &amp; Enterprise</a:t>
            </a:r>
            <a:endParaRPr lang="en-US" sz="1400" dirty="0"/>
          </a:p>
        </p:txBody>
      </p:sp>
      <p:sp>
        <p:nvSpPr>
          <p:cNvPr id="33" name="Text 28"/>
          <p:cNvSpPr/>
          <p:nvPr/>
        </p:nvSpPr>
        <p:spPr>
          <a:xfrm>
            <a:off x="960120" y="368503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Horizontal scaling + load balancer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960120" y="395935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SSO (SAML 2.0 / Azure AD)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960120" y="423367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Dedicated vector DB (Qdrant)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960120" y="450799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Mobile apps (React Native)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4754880" y="2971800"/>
            <a:ext cx="4206240" cy="1828800"/>
          </a:xfrm>
          <a:prstGeom prst="rect">
            <a:avLst/>
          </a:prstGeom>
          <a:solidFill>
            <a:srgbClr val="1A2235"/>
          </a:solidFill>
          <a:ln w="7620">
            <a:solidFill>
              <a:srgbClr val="FF6B6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4754880" y="2971800"/>
            <a:ext cx="502920" cy="1828800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4805172" y="3118104"/>
            <a:ext cx="402336" cy="40233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5639" y="3198571"/>
            <a:ext cx="241402" cy="241402"/>
          </a:xfrm>
          <a:prstGeom prst="rect">
            <a:avLst/>
          </a:prstGeom>
        </p:spPr>
      </p:pic>
      <p:sp>
        <p:nvSpPr>
          <p:cNvPr id="41" name="Shape 35"/>
          <p:cNvSpPr/>
          <p:nvPr/>
        </p:nvSpPr>
        <p:spPr>
          <a:xfrm>
            <a:off x="5303520" y="2971800"/>
            <a:ext cx="594360" cy="25603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5303520" y="297180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3</a:t>
            </a:r>
            <a:endParaRPr lang="en-US" sz="800" dirty="0"/>
          </a:p>
        </p:txBody>
      </p:sp>
      <p:sp>
        <p:nvSpPr>
          <p:cNvPr id="43" name="Text 37"/>
          <p:cNvSpPr/>
          <p:nvPr/>
        </p:nvSpPr>
        <p:spPr>
          <a:xfrm>
            <a:off x="5394960" y="3264408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Analytics &amp; Intelligence</a:t>
            </a:r>
            <a:endParaRPr lang="en-US" sz="1400" dirty="0"/>
          </a:p>
        </p:txBody>
      </p:sp>
      <p:sp>
        <p:nvSpPr>
          <p:cNvPr id="44" name="Text 38"/>
          <p:cNvSpPr/>
          <p:nvPr/>
        </p:nvSpPr>
        <p:spPr>
          <a:xfrm>
            <a:off x="5394960" y="368503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Knowledge gap identification</a:t>
            </a:r>
            <a:endParaRPr lang="en-US" sz="1100" dirty="0"/>
          </a:p>
        </p:txBody>
      </p:sp>
      <p:sp>
        <p:nvSpPr>
          <p:cNvPr id="45" name="Text 39"/>
          <p:cNvSpPr/>
          <p:nvPr/>
        </p:nvSpPr>
        <p:spPr>
          <a:xfrm>
            <a:off x="5394960" y="395935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Auto-tagging &amp; categorization</a:t>
            </a:r>
            <a:endParaRPr lang="en-US" sz="1100" dirty="0"/>
          </a:p>
        </p:txBody>
      </p:sp>
      <p:sp>
        <p:nvSpPr>
          <p:cNvPr id="46" name="Text 40"/>
          <p:cNvSpPr/>
          <p:nvPr/>
        </p:nvSpPr>
        <p:spPr>
          <a:xfrm>
            <a:off x="5394960" y="423367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Query trend analysis</a:t>
            </a:r>
            <a:endParaRPr lang="en-US" sz="1100" dirty="0"/>
          </a:p>
        </p:txBody>
      </p:sp>
      <p:sp>
        <p:nvSpPr>
          <p:cNvPr id="47" name="Text 41"/>
          <p:cNvSpPr/>
          <p:nvPr/>
        </p:nvSpPr>
        <p:spPr>
          <a:xfrm>
            <a:off x="5394960" y="450799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Document freshness scoring</a:t>
            </a:r>
            <a:endParaRPr lang="en-US" sz="1100" dirty="0"/>
          </a:p>
        </p:txBody>
      </p:sp>
      <p:sp>
        <p:nvSpPr>
          <p:cNvPr id="48" name="Text 4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15 / 18</a:t>
            </a:r>
            <a:endParaRPr lang="en-US" sz="900" dirty="0"/>
          </a:p>
        </p:txBody>
      </p:sp>
      <p:sp>
        <p:nvSpPr>
          <p:cNvPr id="49" name="Shape 4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0" y="4983480"/>
            <a:ext cx="3044952" cy="1600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6099048" y="4983480"/>
            <a:ext cx="3044952" cy="1600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6C63FF">
              <a:alpha val="12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00D4AA">
              <a:alpha val="12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14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Conclusion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The AI-Powered Internal Knowledge Assistant successfully demonstrates that Retrieval-Augmented Generation, combined with a modern full-stack architecture, can transform how organizations access their internal knowledge.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4206240" cy="685800"/>
          </a:xfrm>
          <a:prstGeom prst="rect">
            <a:avLst/>
          </a:prstGeom>
          <a:solidFill>
            <a:srgbClr val="1A2235"/>
          </a:solidFill>
          <a:ln w="5080">
            <a:solidFill>
              <a:srgbClr val="6C63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624" y="1714500"/>
            <a:ext cx="402336" cy="402336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091" y="1794967"/>
            <a:ext cx="241402" cy="24140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41832" y="1627632"/>
            <a:ext cx="34747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Full-stack SaaS platform built from scratch with production-ready architecture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54880" y="1572768"/>
            <a:ext cx="4206240" cy="685800"/>
          </a:xfrm>
          <a:prstGeom prst="rect">
            <a:avLst/>
          </a:prstGeom>
          <a:solidFill>
            <a:srgbClr val="1A2235"/>
          </a:solidFill>
          <a:ln w="5080">
            <a:solidFill>
              <a:srgbClr val="00D4A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55464" y="1714500"/>
            <a:ext cx="402336" cy="40233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5931" y="1794967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76672" y="1627632"/>
            <a:ext cx="34747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Hybrid RAG pipeline delivers superior accuracy over single-method retrieval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20040" y="2368296"/>
            <a:ext cx="4206240" cy="685800"/>
          </a:xfrm>
          <a:prstGeom prst="rect">
            <a:avLst/>
          </a:prstGeom>
          <a:solidFill>
            <a:srgbClr val="1A2235"/>
          </a:solidFill>
          <a:ln w="5080">
            <a:solidFill>
              <a:srgbClr val="F59E0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20624" y="2510028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" y="2590495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41832" y="2423160"/>
            <a:ext cx="34747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Role-based access (Admin/Mentor/Trainee) enforced at both UI and API level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754880" y="2368296"/>
            <a:ext cx="4206240" cy="685800"/>
          </a:xfrm>
          <a:prstGeom prst="rect">
            <a:avLst/>
          </a:prstGeom>
          <a:solidFill>
            <a:srgbClr val="1A2235"/>
          </a:solidFill>
          <a:ln w="5080">
            <a:solidFill>
              <a:srgbClr val="FF6B6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55464" y="2510028"/>
            <a:ext cx="402336" cy="40233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5931" y="2590495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76672" y="2423160"/>
            <a:ext cx="34747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Source-attributed AI answers build user trust and enable knowledge traceability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320040" y="3163824"/>
            <a:ext cx="4206240" cy="685800"/>
          </a:xfrm>
          <a:prstGeom prst="rect">
            <a:avLst/>
          </a:prstGeom>
          <a:solidFill>
            <a:srgbClr val="1A2235"/>
          </a:solidFill>
          <a:ln w="5080">
            <a:solidFill>
              <a:srgbClr val="A78BFA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20624" y="3305556"/>
            <a:ext cx="402336" cy="40233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91" y="3386023"/>
            <a:ext cx="241402" cy="24140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41832" y="3218688"/>
            <a:ext cx="34747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System resilient to AI API failures via local embedding fallback chain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4754880" y="3163824"/>
            <a:ext cx="4206240" cy="685800"/>
          </a:xfrm>
          <a:prstGeom prst="rect">
            <a:avLst/>
          </a:prstGeom>
          <a:solidFill>
            <a:srgbClr val="1A2235"/>
          </a:solidFill>
          <a:ln w="5080">
            <a:solidFill>
              <a:srgbClr val="34D399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4855464" y="3305556"/>
            <a:ext cx="402336" cy="40233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5931" y="3386023"/>
            <a:ext cx="241402" cy="24140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376672" y="3218688"/>
            <a:ext cx="34747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All 6 sprint objectives achieved within the Nov–Dec 2025 timeline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320040" y="4133088"/>
            <a:ext cx="8503920" cy="548640"/>
          </a:xfrm>
          <a:prstGeom prst="rect">
            <a:avLst/>
          </a:prstGeom>
          <a:solidFill>
            <a:srgbClr val="6C63FF">
              <a:alpha val="80000"/>
            </a:srgbClr>
          </a:solidFill>
          <a:ln w="7620">
            <a:solidFill>
              <a:srgbClr val="6C63FF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457200" y="416966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FFFF"/>
                </a:solidFill>
              </a:rPr>
              <a:t>"The system is a working proof that private AI-powered knowledge management is achievable, cost-effective, and impactful."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16 / 18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0" y="4983480"/>
            <a:ext cx="3044952" cy="1600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6099048" y="4983480"/>
            <a:ext cx="3044952" cy="1600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8778240" cy="4846320"/>
          </a:xfrm>
          <a:prstGeom prst="rect">
            <a:avLst/>
          </a:prstGeom>
          <a:solidFill>
            <a:srgbClr val="FAFAFA"/>
          </a:solidFill>
          <a:ln w="381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246888"/>
            <a:ext cx="8558784" cy="4626864"/>
          </a:xfrm>
          <a:prstGeom prst="rect">
            <a:avLst/>
          </a:prstGeom>
          <a:solidFill>
            <a:srgbClr val="FAFAF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300" kern="0" dirty="0">
                <a:solidFill>
                  <a:srgbClr val="1F3864"/>
                </a:solidFill>
              </a:rPr>
              <a:t>CERTIFICATE OF COMPLETION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6000"/>
                </a:solidFill>
              </a:rPr>
              <a:t>Final Major Project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1261872"/>
            <a:ext cx="2743200" cy="320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17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This is to certify that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719072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864"/>
                </a:solidFill>
              </a:rPr>
              <a:t>[NAME OF STUDENT]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21488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Enrollment No.: [ENROLLMENT NUMBER]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48716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has successfully completed the Final Major Project titled: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7706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F3864"/>
                </a:solidFill>
              </a:rPr>
              <a:t>"AI-Powered Internal Knowledge Assistant"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31821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B.Tech in Computer Science &amp; Engineering (AI-ML)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Faculty of Engineering Science and Technology, Adani University, Ahmedabad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3749040"/>
            <a:ext cx="2743200" cy="320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187952"/>
            <a:ext cx="2468880" cy="3200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25196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F6000"/>
                </a:solidFill>
              </a:rPr>
              <a:t>Student Signature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4531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[NAME OF STUDENT]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73552" y="4187952"/>
            <a:ext cx="2468880" cy="3200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73552" y="425196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F6000"/>
                </a:solidFill>
              </a:rPr>
              <a:t>Mentor Signature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73552" y="44531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[NAME OF MENTOR]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89904" y="4187952"/>
            <a:ext cx="2468880" cy="3200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9904" y="425196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F6000"/>
                </a:solidFill>
              </a:rPr>
              <a:t>HOD Signature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89904" y="44531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Head of Dept., CSE AI-ML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73659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Adani University, Ahmedabad  ·  Nov–Dec 2025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6C63FF">
              <a:alpha val="15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1371600"/>
            <a:ext cx="5486400" cy="5486400"/>
          </a:xfrm>
          <a:prstGeom prst="ellipse">
            <a:avLst/>
          </a:prstGeom>
          <a:solidFill>
            <a:srgbClr val="00D4AA">
              <a:alpha val="12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-914400"/>
            <a:ext cx="3657600" cy="3657600"/>
          </a:xfrm>
          <a:prstGeom prst="ellipse">
            <a:avLst/>
          </a:prstGeom>
          <a:solidFill>
            <a:srgbClr val="FF6B6B">
              <a:alpha val="10000"/>
            </a:srgbClr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54864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457200" y="2944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AA"/>
                </a:solidFill>
              </a:rPr>
              <a:t>Questions &amp; Discussion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286000" y="3474720"/>
            <a:ext cx="4572000" cy="685800"/>
          </a:xfrm>
          <a:prstGeom prst="rect">
            <a:avLst/>
          </a:prstGeom>
          <a:solidFill>
            <a:srgbClr val="6C63FF">
              <a:alpha val="20000"/>
            </a:srgbClr>
          </a:solidFill>
          <a:ln w="10160">
            <a:solidFill>
              <a:srgbClr val="6C63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0" y="3493008"/>
            <a:ext cx="457200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AI-Powered Internal Knowledge Assistant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[NAME OF STUDENT]  ·  [ENROLLMENT NO.]  ·  Adani University, 2025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0" y="4983480"/>
            <a:ext cx="3044952" cy="1600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099048" y="4983480"/>
            <a:ext cx="3044952" cy="1600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Internal Knowledge Assistant</dc:title>
  <dc:subject>PptxGenJS Presentation</dc:subject>
  <dc:creator>PptxGenJS</dc:creator>
  <cp:lastModifiedBy>PptxGenJS</cp:lastModifiedBy>
  <cp:revision>1</cp:revision>
  <dcterms:created xsi:type="dcterms:W3CDTF">2026-04-29T12:19:08Z</dcterms:created>
  <dcterms:modified xsi:type="dcterms:W3CDTF">2026-04-29T12:19:08Z</dcterms:modified>
</cp:coreProperties>
</file>